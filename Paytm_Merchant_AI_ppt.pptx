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005840"/>
            <a:ext cx="10545775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234440"/>
            <a:ext cx="9418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BAF2"/>
                </a:solidFill>
              </a:defRPr>
            </a:pPr>
            <a:r>
              <a:t>⚡ TRACK 3: AUTONOMOUS AI TEAMMATES  |  TEAM CORTEX CODE</a:t>
            </a:r>
          </a:p>
          <a:p>
            <a:pPr>
              <a:spcBef>
                <a:spcPts val="600"/>
              </a:spcBef>
              <a:defRPr sz="4400" b="1">
                <a:solidFill>
                  <a:srgbClr val="002970"/>
                </a:solidFill>
              </a:defRPr>
            </a:pPr>
            <a:r>
              <a:t>Paytm Merchant AI Teammate</a:t>
            </a:r>
          </a:p>
          <a:p>
            <a:pPr>
              <a:spcBef>
                <a:spcPts val="600"/>
              </a:spcBef>
              <a:defRPr sz="2200" b="1">
                <a:solidFill>
                  <a:srgbClr val="00BAF2"/>
                </a:solidFill>
              </a:defRPr>
            </a:pPr>
            <a:r>
              <a:t>"AI teammates that don't just respond; they get the job done."</a:t>
            </a:r>
          </a:p>
          <a:p>
            <a:pPr>
              <a:spcBef>
                <a:spcPts val="600"/>
              </a:spcBef>
              <a:defRPr sz="1400">
                <a:solidFill>
                  <a:srgbClr val="475569"/>
                </a:solidFill>
              </a:defRPr>
            </a:pPr>
            <a:r>
              <a:t>An autonomous execution agent for Paytm merchants — discovering issues, taking proactive actions, and driving growth with zero human intervention.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4297680"/>
            <a:ext cx="3017520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B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/>
          <a:lstStyle/>
          <a:p>
            <a:pPr algn="ctr">
              <a:defRPr sz="1500" b="1">
                <a:solidFill>
                  <a:srgbClr val="002970"/>
                </a:solidFill>
              </a:defRPr>
            </a:pPr>
            <a:r>
              <a:t>Don't Just Respond</a:t>
            </a:r>
          </a:p>
          <a:p>
            <a:pPr>
              <a:spcBef>
                <a:spcPts val="400"/>
              </a:spcBef>
              <a:defRPr sz="1200">
                <a:solidFill>
                  <a:srgbClr val="475569"/>
                </a:solidFill>
              </a:defRPr>
            </a:pPr>
            <a:r>
              <a:t>Takes real-world actions without waiting for prompts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4297680"/>
            <a:ext cx="3017520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B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/>
          <a:lstStyle/>
          <a:p>
            <a:pPr algn="ctr">
              <a:defRPr sz="1500" b="1">
                <a:solidFill>
                  <a:srgbClr val="002970"/>
                </a:solidFill>
              </a:defRPr>
            </a:pPr>
            <a:r>
              <a:t>Gets The Job Done</a:t>
            </a:r>
          </a:p>
          <a:p>
            <a:pPr>
              <a:spcBef>
                <a:spcPts val="400"/>
              </a:spcBef>
              <a:defRPr sz="1200">
                <a:solidFill>
                  <a:srgbClr val="475569"/>
                </a:solidFill>
              </a:defRPr>
            </a:pPr>
            <a:r>
              <a:t>Dispatches WhatsApp dues reminders, restocks &amp; promo campaigns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4297680"/>
            <a:ext cx="3017520" cy="1463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B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/>
          <a:lstStyle/>
          <a:p>
            <a:pPr algn="ctr">
              <a:defRPr sz="1500" b="1">
                <a:solidFill>
                  <a:srgbClr val="002970"/>
                </a:solidFill>
              </a:defRPr>
            </a:pPr>
            <a:r>
              <a:t>Enterprise Grade</a:t>
            </a:r>
          </a:p>
          <a:p>
            <a:pPr>
              <a:spcBef>
                <a:spcPts val="400"/>
              </a:spcBef>
              <a:defRPr sz="1200">
                <a:solidFill>
                  <a:srgbClr val="475569"/>
                </a:solidFill>
              </a:defRPr>
            </a:pPr>
            <a:r>
              <a:t>Built on Gemini 3.6 + LangGraph autonomous agent loop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657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BAF2"/>
                </a:solidFill>
              </a:defRPr>
            </a:pPr>
            <a:r>
              <a:t>01 / TRACK 3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85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970"/>
                </a:solidFill>
              </a:defRPr>
            </a:pPr>
            <a:r>
              <a:t>The Problem: Chatbots Answer Questions, They Don't Get Work Done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3736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0" lIns="274320" rIns="274320"/>
          <a:lstStyle/>
          <a:p>
            <a:pPr algn="ctr">
              <a:defRPr sz="2000" b="1">
                <a:solidFill>
                  <a:srgbClr val="002970"/>
                </a:solidFill>
              </a:defRPr>
            </a:pPr>
            <a:r>
              <a:t>Chatbots are Passive</a:t>
            </a:r>
          </a:p>
          <a:p>
            <a:pPr>
              <a:spcBef>
                <a:spcPts val="1400"/>
              </a:spcBef>
              <a:defRPr sz="1400">
                <a:solidFill>
                  <a:srgbClr val="475569"/>
                </a:solidFill>
              </a:defRPr>
            </a:pPr>
            <a:r>
              <a:t>Current merchant bots sit idle waiting for queries. But busy merchants do not have time to query dashboards or ask for daily advice.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011680"/>
            <a:ext cx="2834640" cy="365760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THE REACTIVE TRAP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73736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0" lIns="274320" rIns="274320"/>
          <a:lstStyle/>
          <a:p>
            <a:pPr algn="ctr">
              <a:defRPr sz="2000" b="1">
                <a:solidFill>
                  <a:srgbClr val="002970"/>
                </a:solidFill>
              </a:defRPr>
            </a:pPr>
            <a:r>
              <a:t>Insight Without Action is Zero</a:t>
            </a:r>
          </a:p>
          <a:p>
            <a:pPr>
              <a:spcBef>
                <a:spcPts val="1400"/>
              </a:spcBef>
              <a:defRPr sz="1400">
                <a:solidFill>
                  <a:srgbClr val="475569"/>
                </a:solidFill>
              </a:defRPr>
            </a:pPr>
            <a:r>
              <a:t>Alerting a merchant that "₹25,000 is overdue" is useless if the merchant still has to spend hours making uncomfortable recovery phone calls.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2011680"/>
            <a:ext cx="2834640" cy="3657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THE EXECUTION GAP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73736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0" lIns="274320" rIns="274320"/>
          <a:lstStyle/>
          <a:p>
            <a:pPr algn="ctr">
              <a:defRPr sz="2000" b="1">
                <a:solidFill>
                  <a:srgbClr val="002970"/>
                </a:solidFill>
              </a:defRPr>
            </a:pPr>
            <a:r>
              <a:t>Operational Overhead</a:t>
            </a:r>
          </a:p>
          <a:p>
            <a:pPr>
              <a:spcBef>
                <a:spcPts val="1400"/>
              </a:spcBef>
              <a:defRPr sz="1400">
                <a:solidFill>
                  <a:srgbClr val="475569"/>
                </a:solidFill>
              </a:defRPr>
            </a:pPr>
            <a:r>
              <a:t>Managing inventory, tracking dead stock, and crafting promo offers requires an analyst. Merchants need an autonomous colleague, not a Q&amp;A tool.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599" y="2011680"/>
            <a:ext cx="2834640" cy="365760"/>
          </a:xfrm>
          <a:prstGeom prst="roundRect">
            <a:avLst/>
          </a:prstGeom>
          <a:solidFill>
            <a:srgbClr val="00B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MERCHANT TIME DRAIN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657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BAF2"/>
                </a:solidFill>
              </a:defRPr>
            </a:pPr>
            <a:r>
              <a:t>02 / AUTONOMOUS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85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970"/>
                </a:solidFill>
              </a:defRPr>
            </a:pPr>
            <a:r>
              <a:t>Our Solution: An AI Teammate that Gets the Job Done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37360"/>
            <a:ext cx="51663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274320" tIns="274320"/>
          <a:lstStyle/>
          <a:p>
            <a:pPr algn="ctr">
              <a:defRPr sz="1700" b="1">
                <a:solidFill>
                  <a:srgbClr val="002970"/>
                </a:solidFill>
              </a:defRPr>
            </a:pPr>
            <a:r>
              <a:t>Proactive Autonomous Audit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</a:defRPr>
            </a:pPr>
            <a:r>
              <a:t>Triggers a full business scan across GMV, overdue balances, and inventory velocity without waiting for user commands.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37360"/>
            <a:ext cx="164592" cy="2011680"/>
          </a:xfrm>
          <a:prstGeom prst="roundRect">
            <a:avLst/>
          </a:prstGeom>
          <a:solidFill>
            <a:srgbClr val="00B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72200" y="1737360"/>
            <a:ext cx="51663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274320" tIns="274320"/>
          <a:lstStyle/>
          <a:p>
            <a:pPr algn="ctr">
              <a:defRPr sz="1700" b="1">
                <a:solidFill>
                  <a:srgbClr val="002970"/>
                </a:solidFill>
              </a:defRPr>
            </a:pPr>
            <a:r>
              <a:t>Autonomous Dues Recovery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</a:defRPr>
            </a:pPr>
            <a:r>
              <a:t>Drafts and dispatches personalized WhatsApp reminders with direct Paytm UPI payment links to overdue customers.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737360"/>
            <a:ext cx="164592" cy="20116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4023360"/>
            <a:ext cx="51663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274320" tIns="274320"/>
          <a:lstStyle/>
          <a:p>
            <a:pPr algn="ctr">
              <a:defRPr sz="1700" b="1">
                <a:solidFill>
                  <a:srgbClr val="002970"/>
                </a:solidFill>
              </a:defRPr>
            </a:pPr>
            <a:r>
              <a:t>Autonomous Dead-Stock Liquidation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</a:defRPr>
            </a:pPr>
            <a:r>
              <a:t>Identifies capital locked in slow stock and drafts custom promotional campaigns ready for merchant broadcast.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023360"/>
            <a:ext cx="164592" cy="20116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72200" y="4023360"/>
            <a:ext cx="51663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274320" tIns="274320"/>
          <a:lstStyle/>
          <a:p>
            <a:pPr algn="ctr">
              <a:defRPr sz="1700" b="1">
                <a:solidFill>
                  <a:srgbClr val="002970"/>
                </a:solidFill>
              </a:defRPr>
            </a:pPr>
            <a:r>
              <a:t>Autonomous Predictive Restock</a:t>
            </a:r>
          </a:p>
          <a:p>
            <a:pPr>
              <a:spcBef>
                <a:spcPts val="800"/>
              </a:spcBef>
              <a:defRPr sz="1300">
                <a:solidFill>
                  <a:srgbClr val="475569"/>
                </a:solidFill>
              </a:defRPr>
            </a:pPr>
            <a:r>
              <a:t>Forecasts stock run-rates, flags imminent stockouts, and prepares vendor restock orders proactively.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4023360"/>
            <a:ext cx="164592" cy="2011680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657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BAF2"/>
                </a:solidFill>
              </a:defRPr>
            </a:pPr>
            <a:r>
              <a:t>03 / TECHNICAL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85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970"/>
                </a:solidFill>
              </a:defRPr>
            </a:pPr>
            <a:r>
              <a:t>Architecture: The Autonomous Teammate Decision Engine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2487168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20040"/>
          <a:lstStyle/>
          <a:p>
            <a:pPr algn="ctr">
              <a:defRPr sz="1400" b="1">
                <a:solidFill>
                  <a:srgbClr val="00BAF2"/>
                </a:solidFill>
              </a:defRPr>
            </a:pPr>
            <a:r>
              <a:t>1. Paytm Telemetry</a:t>
            </a:r>
          </a:p>
          <a:p>
            <a:pPr>
              <a:spcBef>
                <a:spcPts val="400"/>
              </a:spcBef>
              <a:defRPr sz="1600" b="1">
                <a:solidFill>
                  <a:srgbClr val="002970"/>
                </a:solidFill>
              </a:defRPr>
            </a:pPr>
            <a:r>
              <a:t>Merchant Data Stream</a:t>
            </a:r>
          </a:p>
          <a:p>
            <a:pPr>
              <a:spcBef>
                <a:spcPts val="1200"/>
              </a:spcBef>
              <a:defRPr sz="1200">
                <a:solidFill>
                  <a:srgbClr val="475569"/>
                </a:solidFill>
              </a:defRPr>
            </a:pPr>
            <a:r>
              <a:t>Ingests live merchant transaction streams, settlement balances, receivables, and SKU turnover.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93008" y="1828800"/>
            <a:ext cx="2487168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2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20040"/>
          <a:lstStyle/>
          <a:p>
            <a:pPr algn="ctr">
              <a:defRPr sz="1400" b="1">
                <a:solidFill>
                  <a:srgbClr val="002970"/>
                </a:solidFill>
              </a:defRPr>
            </a:pPr>
            <a:r>
              <a:t>2. Agentic Reasoning</a:t>
            </a:r>
          </a:p>
          <a:p>
            <a:pPr>
              <a:spcBef>
                <a:spcPts val="400"/>
              </a:spcBef>
              <a:defRPr sz="1600" b="1">
                <a:solidFill>
                  <a:srgbClr val="002970"/>
                </a:solidFill>
              </a:defRPr>
            </a:pPr>
            <a:r>
              <a:t>Gemini 3.6 + LangGraph</a:t>
            </a:r>
          </a:p>
          <a:p>
            <a:pPr>
              <a:spcBef>
                <a:spcPts val="1200"/>
              </a:spcBef>
              <a:defRPr sz="1200">
                <a:solidFill>
                  <a:srgbClr val="475569"/>
                </a:solidFill>
              </a:defRPr>
            </a:pPr>
            <a:r>
              <a:t>Autonomous ReAct loop with multi-model fallback (Gemini 2.5/3.6) that plans and decides next actions.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3056" y="1828800"/>
            <a:ext cx="2487168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20040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3. Tool Execution</a:t>
            </a:r>
          </a:p>
          <a:p>
            <a:pPr>
              <a:spcBef>
                <a:spcPts val="400"/>
              </a:spcBef>
              <a:defRPr sz="1600" b="1">
                <a:solidFill>
                  <a:srgbClr val="002970"/>
                </a:solidFill>
              </a:defRPr>
            </a:pPr>
            <a:r>
              <a:t>6 Autonomous Tools</a:t>
            </a:r>
          </a:p>
          <a:p>
            <a:pPr>
              <a:spcBef>
                <a:spcPts val="1200"/>
              </a:spcBef>
              <a:defRPr sz="1200">
                <a:solidFill>
                  <a:srgbClr val="475569"/>
                </a:solidFill>
              </a:defRPr>
            </a:pPr>
            <a:r>
              <a:t>Executes real actions: sends WhatsApp reminders, drafts promo offers, calculates reorders, generates summaries.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33104" y="1828800"/>
            <a:ext cx="2487168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20040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4. Transparency UI</a:t>
            </a:r>
          </a:p>
          <a:p>
            <a:pPr>
              <a:spcBef>
                <a:spcPts val="400"/>
              </a:spcBef>
              <a:defRPr sz="1600" b="1">
                <a:solidFill>
                  <a:srgbClr val="002970"/>
                </a:solidFill>
              </a:defRPr>
            </a:pPr>
            <a:r>
              <a:t>Action Feed &amp; Chat</a:t>
            </a:r>
          </a:p>
          <a:p>
            <a:pPr>
              <a:spcBef>
                <a:spcPts val="1200"/>
              </a:spcBef>
              <a:defRPr sz="1200">
                <a:solidFill>
                  <a:srgbClr val="475569"/>
                </a:solidFill>
              </a:defRPr>
            </a:pPr>
            <a:r>
              <a:t>Streamlit dashboard with live interactive chat and an audit-proof Action Feed showing every tool executed.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657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BAF2"/>
                </a:solidFill>
              </a:defRPr>
            </a:pPr>
            <a:r>
              <a:t>04 / BUSINESS IMPACT &amp;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858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970"/>
                </a:solidFill>
              </a:defRPr>
            </a:pPr>
            <a:r>
              <a:t>Measurable Business ROI &amp; HackBriven Demo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3736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65760"/>
          <a:lstStyle/>
          <a:p>
            <a:pPr algn="ctr">
              <a:defRPr sz="1800" b="1">
                <a:solidFill>
                  <a:srgbClr val="002970"/>
                </a:solidFill>
              </a:defRPr>
            </a:pPr>
            <a:r>
              <a:t>60-Second Demo Walkthrough for Judges</a:t>
            </a:r>
          </a:p>
          <a:p>
            <a:pPr>
              <a:spcBef>
                <a:spcPts val="1000"/>
              </a:spcBef>
              <a:defRPr sz="1300">
                <a:solidFill>
                  <a:srgbClr val="475569"/>
                </a:solidFill>
              </a:defRPr>
            </a:pPr>
            <a:r>
              <a:t>1. Open Dashboard: Review merchant financial metrics and receivables.</a:t>
            </a:r>
          </a:p>
          <a:p>
            <a:pPr>
              <a:spcBef>
                <a:spcPts val="1000"/>
              </a:spcBef>
              <a:defRPr sz="1300">
                <a:solidFill>
                  <a:srgbClr val="475569"/>
                </a:solidFill>
              </a:defRPr>
            </a:pPr>
            <a:r>
              <a:t>2. Click "Run Full AI Scan": Agent autonomously executes 5+ tools.</a:t>
            </a:r>
          </a:p>
          <a:p>
            <a:pPr>
              <a:spcBef>
                <a:spcPts val="1000"/>
              </a:spcBef>
              <a:defRPr sz="1300">
                <a:solidFill>
                  <a:srgbClr val="475569"/>
                </a:solidFill>
              </a:defRPr>
            </a:pPr>
            <a:r>
              <a:t>3. Review Action Feed: Inspect actual dispatched WhatsApp reminder payloads.</a:t>
            </a:r>
          </a:p>
          <a:p>
            <a:pPr>
              <a:spcBef>
                <a:spcPts val="1000"/>
              </a:spcBef>
              <a:defRPr sz="1300">
                <a:solidFill>
                  <a:srgbClr val="475569"/>
                </a:solidFill>
              </a:defRPr>
            </a:pPr>
            <a:r>
              <a:t>4. Test Custom Query: Ask follow-up questions to demonstrate persistent conversational memory.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12064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2400" b="1">
                <a:solidFill>
                  <a:srgbClr val="10B981"/>
                </a:solidFill>
              </a:defRPr>
            </a:pPr>
            <a:r>
              <a:t>Rs 25,000+</a:t>
            </a:r>
          </a:p>
          <a:p>
            <a:pPr>
              <a:spcBef>
                <a:spcPts val="200"/>
              </a:spcBef>
              <a:defRPr sz="1200">
                <a:solidFill>
                  <a:srgbClr val="475569"/>
                </a:solidFill>
              </a:defRPr>
            </a:pPr>
            <a:r>
              <a:t>Cashflow Recovered / Month - Via automated polite WhatsApp payment reminders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227832"/>
            <a:ext cx="512064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A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2400" b="1">
                <a:solidFill>
                  <a:srgbClr val="00BAF2"/>
                </a:solidFill>
              </a:defRPr>
            </a:pPr>
            <a:r>
              <a:t>10 hrs / wk</a:t>
            </a:r>
          </a:p>
          <a:p>
            <a:pPr>
              <a:spcBef>
                <a:spcPts val="200"/>
              </a:spcBef>
              <a:defRPr sz="1200">
                <a:solidFill>
                  <a:srgbClr val="475569"/>
                </a:solidFill>
              </a:defRPr>
            </a:pPr>
            <a:r>
              <a:t>Merchant Time Saved - Zero manual ledger calculations or follow-up calls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718304"/>
            <a:ext cx="512064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2400" b="1">
                <a:solidFill>
                  <a:srgbClr val="F59E0B"/>
                </a:solidFill>
              </a:defRPr>
            </a:pPr>
            <a:r>
              <a:t>Zero Cost</a:t>
            </a:r>
          </a:p>
          <a:p>
            <a:pPr>
              <a:spcBef>
                <a:spcPts val="200"/>
              </a:spcBef>
              <a:defRPr sz="1200">
                <a:solidFill>
                  <a:srgbClr val="475569"/>
                </a:solidFill>
              </a:defRPr>
            </a:pPr>
            <a:r>
              <a:t>Free Tier Deployment - Powered by Gemini Flash API - accessible to every Paytm merchant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